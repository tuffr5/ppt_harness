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us-east</c:v>
                </c:pt>
                <c:pt idx="1">
                  <c:v>us-west</c:v>
                </c:pt>
                <c:pt idx="2">
                  <c:v>eu-central</c:v>
                </c:pt>
                <c:pt idx="3">
                  <c:v>ap-south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11.9</c:v>
                </c:pt>
                <c:pt idx="2">
                  <c:v>9.4</c:v>
                </c:pt>
                <c:pt idx="3">
                  <c:v>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us-east</c:v>
                </c:pt>
                <c:pt idx="1">
                  <c:v>us-west</c:v>
                </c:pt>
                <c:pt idx="2">
                  <c:v>eu-central</c:v>
                </c:pt>
                <c:pt idx="3">
                  <c:v>ap-south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22.7</c:v>
                </c:pt>
                <c:pt idx="1">
                  <c:v>12.4</c:v>
                </c:pt>
                <c:pt idx="2">
                  <c:v>13.8</c:v>
                </c:pt>
                <c:pt idx="3">
                  <c:v>9.9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deck built by scripts/make_demo_deck.py.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text inherits its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Logo"/>
          <p:cNvSpPr/>
          <p:nvPr/>
        </p:nvSpPr>
        <p:spPr>
          <a:xfrm>
            <a:off x="11064240" y="228600"/>
            <a:ext cx="822960" cy="82296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DH</a:t>
            </a:r>
          </a:p>
        </p:txBody>
      </p:sp>
      <p:sp>
        <p:nvSpPr>
          <p:cNvPr id="8" name="Footer band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ppt-harness demo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Where the numbers went and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fell 38% after the cache rewrite</a:t>
            </a:r>
          </a:p>
          <a:p>
            <a:r>
              <a:t>Two regions still run the old scheduler</a:t>
            </a:r>
          </a:p>
          <a:p>
            <a:r>
              <a:t>Cost per request is flat despite 3x traffic</a:t>
            </a:r>
          </a:p>
          <a:p>
            <a:r>
              <a:t>The migration script needs a dry-run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connectors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2377440" cy="11887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21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collect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429000" y="2606040"/>
            <a:ext cx="1005840" cy="365760"/>
          </a:xfrm>
          <a:prstGeom prst="rightArrow">
            <a:avLst/>
          </a:prstGeom>
          <a:solidFill>
            <a:srgbClr val="5A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2194560"/>
            <a:ext cx="2377440" cy="118872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121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086600" y="2606040"/>
            <a:ext cx="1005840" cy="365760"/>
          </a:xfrm>
          <a:prstGeom prst="rightArrow">
            <a:avLst/>
          </a:prstGeom>
          <a:solidFill>
            <a:srgbClr val="5A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8229600" y="2194560"/>
            <a:ext cx="2377440" cy="1188720"/>
          </a:xfrm>
          <a:prstGeom prst="chevron">
            <a:avLst/>
          </a:prstGeom>
          <a:solidFill>
            <a:srgbClr val="0E7C66"/>
          </a:solidFill>
          <a:ln w="15875">
            <a:solidFill>
              <a:srgbClr val="121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report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023360"/>
            <a:ext cx="10332720" cy="0"/>
          </a:xfrm>
          <a:prstGeom prst="line">
            <a:avLst/>
          </a:prstGeom>
          <a:ln w="25400">
            <a:solidFill>
              <a:srgbClr val="5A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5A6472"/>
                </a:solidFill>
              </a:rPr>
              <a:t>Rounded rectangle, ellipse, chevron, two arrows and a straight connector.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Requests per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38160" y="1737360"/>
            <a:ext cx="32918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5A6472"/>
                </a:solidFill>
              </a:rPr>
              <a:t>Growth is concentrated in eu-central, which also carries the largest share of the migration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56082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56082"/>
                          </a:solidFill>
                        </a:rPr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56082"/>
                          </a:solidFill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56082"/>
                          </a:solidFill>
                        </a:rPr>
                        <a:t>Status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us-east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done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us-west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done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eu-central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ap-south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161C"/>
                          </a:solidFill>
                        </a:rPr>
                        <a:t>not started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Assets and groups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4754880" cy="29718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400800" y="1737360"/>
            <a:ext cx="2194560" cy="1828800"/>
            <a:chOff x="6400800" y="1737360"/>
            <a:chExt cx="2194560" cy="1828800"/>
          </a:xfrm>
        </p:grpSpPr>
        <p:sp>
          <p:nvSpPr>
            <p:cNvPr id="4" name="TextBox 3"/>
            <p:cNvSpPr txBox="1"/>
            <p:nvPr/>
          </p:nvSpPr>
          <p:spPr>
            <a:xfrm>
              <a:off x="6400800" y="1737360"/>
              <a:ext cx="2194560" cy="82296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/>
              <a:r>
                <a:rPr sz="1400" b="0">
                  <a:solidFill>
                    <a:srgbClr val="E97132"/>
                  </a:solidFill>
                </a:rPr>
                <a:t>grouped A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00800" y="2743200"/>
              <a:ext cx="2194560" cy="82296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/>
              <a:r>
                <a:rPr sz="1400" b="0">
                  <a:solidFill>
                    <a:srgbClr val="E97132"/>
                  </a:solidFill>
                </a:rPr>
                <a:t>grouped B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144000" y="1737360"/>
            <a:ext cx="22860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5A6472"/>
                </a:solidFill>
              </a:rPr>
              <a:t>The picture is a media part; the pair to the left is a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that only fits because PowerPoint shrank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120640" cy="1463040"/>
          </a:xfrm>
          <a:prstGeom prst="rect">
            <a:avLst/>
          </a:prstGeom>
          <a:noFill/>
        </p:spPr>
        <p:txBody>
          <a:bodyPr wrap="square">
            <a:normAutofit fontScale="77500" lnSpcReduction="10000"/>
          </a:bodyPr>
          <a:lstStyle/>
          <a:p>
            <a:pPr algn="l"/>
            <a:r>
              <a:rPr sz="2000" b="0">
                <a:solidFill>
                  <a:srgbClr val="12161C"/>
                </a:solidFill>
              </a:rPr>
              <a:t>This paragraph is deliberately longer than the box that holds it, so that PowerPoint stores a normAutofit fontScale rather than letting it overflow. The harness reads that as an admission and reports the real overflow.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737360"/>
            <a:ext cx="49377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5A6472"/>
                </a:solidFill>
              </a:rPr>
              <a:t>Open this slide in the harness: it reports overflow and says the source shrinks the text to 78%.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/>
  <dc:creator>ppt-harness demo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